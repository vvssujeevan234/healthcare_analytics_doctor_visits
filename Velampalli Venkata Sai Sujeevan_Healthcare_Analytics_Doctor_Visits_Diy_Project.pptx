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9"/>
  </p:notesMasterIdLst>
  <p:handoutMasterIdLst>
    <p:handoutMasterId r:id="rId20"/>
  </p:handoutMasterIdLst>
  <p:sldIdLst>
    <p:sldId id="338" r:id="rId5"/>
    <p:sldId id="327" r:id="rId6"/>
    <p:sldId id="315" r:id="rId7"/>
    <p:sldId id="340" r:id="rId8"/>
    <p:sldId id="302" r:id="rId9"/>
    <p:sldId id="343" r:id="rId10"/>
    <p:sldId id="339" r:id="rId11"/>
    <p:sldId id="345" r:id="rId12"/>
    <p:sldId id="344" r:id="rId13"/>
    <p:sldId id="346" r:id="rId14"/>
    <p:sldId id="347" r:id="rId15"/>
    <p:sldId id="348" r:id="rId16"/>
    <p:sldId id="304" r:id="rId17"/>
    <p:sldId id="341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67BBC5-90FB-0B4C-ED85-F72C7BA7CE4A}" v="1" dt="2022-06-06T12:10:26.221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66" d="100"/>
          <a:sy n="66" d="100"/>
        </p:scale>
        <p:origin x="588" y="44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9/18/2026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9/18/2026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9/18/2026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9/18/2026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abc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71973" y="4141999"/>
            <a:ext cx="7843678" cy="1496801"/>
          </a:xfrm>
        </p:spPr>
        <p:txBody>
          <a:bodyPr>
            <a:normAutofit/>
          </a:bodyPr>
          <a:lstStyle/>
          <a:p>
            <a:pPr algn="r"/>
            <a:r>
              <a:rPr lang="en-US" sz="2400" dirty="0">
                <a:solidFill>
                  <a:schemeClr val="tx1"/>
                </a:solidFill>
              </a:rPr>
              <a:t>Presented By</a:t>
            </a:r>
            <a:r>
              <a:rPr lang="en-US" sz="2400" b="0" dirty="0">
                <a:solidFill>
                  <a:schemeClr val="tx1"/>
                </a:solidFill>
              </a:rPr>
              <a:t>:</a:t>
            </a:r>
          </a:p>
          <a:p>
            <a:pPr algn="r"/>
            <a:r>
              <a:rPr lang="en-US" sz="2400" b="0" dirty="0">
                <a:solidFill>
                  <a:schemeClr val="tx1"/>
                </a:solidFill>
              </a:rPr>
              <a:t>Velampalli Venkata Sai Sujeevan</a:t>
            </a:r>
          </a:p>
          <a:p>
            <a:pPr algn="r"/>
            <a:r>
              <a:rPr lang="en-US" sz="2400" dirty="0">
                <a:solidFill>
                  <a:schemeClr val="tx1"/>
                </a:solidFill>
              </a:rPr>
              <a:t>Aicte Id</a:t>
            </a:r>
            <a:r>
              <a:rPr lang="en-US" sz="2400" b="0" dirty="0">
                <a:solidFill>
                  <a:schemeClr val="tx1"/>
                </a:solidFill>
              </a:rPr>
              <a:t>-</a:t>
            </a:r>
            <a:r>
              <a:rPr lang="en-US" sz="2400" dirty="0"/>
              <a:t>STU658046cf7f3e11702905551</a:t>
            </a:r>
            <a:endParaRPr lang="en-US" sz="2400" b="0" dirty="0">
              <a:solidFill>
                <a:schemeClr val="tx1"/>
              </a:solidFill>
            </a:endParaRPr>
          </a:p>
          <a:p>
            <a:pPr algn="r"/>
            <a:endParaRPr lang="en-US" b="0" dirty="0">
              <a:solidFill>
                <a:schemeClr val="tx1"/>
              </a:solidFill>
            </a:endParaRPr>
          </a:p>
          <a:p>
            <a:pPr algn="r"/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461" y="2607678"/>
            <a:ext cx="10745078" cy="1234142"/>
          </a:xfrm>
        </p:spPr>
        <p:txBody>
          <a:bodyPr>
            <a:normAutofit/>
          </a:bodyPr>
          <a:lstStyle/>
          <a:p>
            <a:r>
              <a:rPr lang="en-GB" sz="3200" dirty="0"/>
              <a:t>Project Title -</a:t>
            </a:r>
            <a:r>
              <a:rPr lang="en-US" sz="3200" dirty="0"/>
              <a:t>Healthcare Analytics for Doctor Visits</a:t>
            </a:r>
            <a:br>
              <a:rPr lang="en-US" sz="3200" dirty="0"/>
            </a:br>
            <a:r>
              <a:rPr lang="en-US" sz="3200" dirty="0"/>
              <a:t>                                                                   -TIRTC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80" y="1962364"/>
            <a:ext cx="6995604" cy="4509556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1400" dirty="0"/>
              <a:t>Healthcare organizations generate large amounts of patient-related data. However, it can be difficult to understand the factors that influence how frequently patients visit doctors.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400" dirty="0"/>
              <a:t>This project focuses on analyzing healthcare data to identify patterns and relationships between </a:t>
            </a:r>
            <a:r>
              <a:rPr lang="en-US" sz="1400" b="1" dirty="0"/>
              <a:t>doctor visits and patient characteristics</a:t>
            </a:r>
            <a:r>
              <a:rPr lang="en-US" sz="1400" dirty="0"/>
              <a:t>, such as: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400" dirty="0"/>
              <a:t>Age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400" dirty="0"/>
              <a:t>Gender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400" dirty="0"/>
              <a:t>Income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400" dirty="0"/>
              <a:t>Illness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400" dirty="0"/>
              <a:t>Health condition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400" dirty="0"/>
              <a:t>Chronic conditions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400" dirty="0"/>
              <a:t>Reduced activity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400" dirty="0"/>
              <a:t>Healthcare coverage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400" dirty="0"/>
              <a:t>The project uses data analytics and visualization techniques to convert raw healthcare data into meaningful insights.</a:t>
            </a:r>
          </a:p>
          <a:p>
            <a:pPr>
              <a:lnSpc>
                <a:spcPct val="150000"/>
              </a:lnSpc>
            </a:pPr>
            <a:endParaRPr lang="en-IN" sz="14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</a:t>
            </a: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9D2A610-35D3-EF56-BC48-E02D076291FC}"/>
              </a:ext>
            </a:extLst>
          </p:cNvPr>
          <p:cNvSpPr txBox="1"/>
          <p:nvPr/>
        </p:nvSpPr>
        <p:spPr>
          <a:xfrm>
            <a:off x="467359" y="2095928"/>
            <a:ext cx="803964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Healthcare Analytics for Doctor Visits</a:t>
            </a:r>
            <a:r>
              <a:rPr lang="en-US" dirty="0"/>
              <a:t> is a data analytics project that analyzes patient healthcare information to understand patterns in doctor visits.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Using </a:t>
            </a:r>
            <a:r>
              <a:rPr lang="en-US" b="1" dirty="0"/>
              <a:t>Pandas and NumPy</a:t>
            </a:r>
            <a:r>
              <a:rPr lang="en-US" dirty="0"/>
              <a:t>, the data is cleaned and analyzed. Different factors such as age, gender, income, illness, health status, and chronic conditions are compared with the number of doctor visits.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Matplotlib and Seaborn</a:t>
            </a:r>
            <a:r>
              <a:rPr lang="en-US" dirty="0"/>
              <a:t> are used to create visualizations such as: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Bar charts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Histograms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Box plots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Scatter plots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Pie charts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Correlation heatmaps </a:t>
            </a:r>
          </a:p>
          <a:p>
            <a:r>
              <a:rPr lang="en-US" dirty="0"/>
              <a:t>These visualizations make it easier to identify trends and relationships in healthcare utilization.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5BEE7-FEDB-369A-C247-1CC652A68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3BEF8B6-401E-3973-4707-9564C5DF121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904481" cy="3990023"/>
          </a:xfrm>
        </p:spPr>
        <p:txBody>
          <a:bodyPr>
            <a:normAutofit fontScale="47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600" b="1" dirty="0"/>
              <a:t>Who Are the End Users?</a:t>
            </a:r>
          </a:p>
          <a:p>
            <a:pPr marL="0" indent="0">
              <a:buNone/>
            </a:pPr>
            <a:r>
              <a:rPr lang="en-US" sz="3600" dirty="0"/>
              <a:t> The project can be useful for different healthcare-related users:</a:t>
            </a:r>
          </a:p>
          <a:p>
            <a:pPr marL="0" indent="0">
              <a:buNone/>
            </a:pPr>
            <a:r>
              <a:rPr lang="en-US" sz="3600" b="1" dirty="0"/>
              <a:t>    🏥 Healthcare Organizations</a:t>
            </a:r>
          </a:p>
          <a:p>
            <a:r>
              <a:rPr lang="en-US" sz="3600" dirty="0"/>
              <a:t>To understand patient visit patterns and healthcare demand.</a:t>
            </a:r>
          </a:p>
          <a:p>
            <a:pPr marL="0" indent="0">
              <a:buNone/>
            </a:pPr>
            <a:r>
              <a:rPr lang="en-US" sz="3600" b="1" dirty="0"/>
              <a:t>    👨‍⚕️ Doctors &amp; Medical Professionals</a:t>
            </a:r>
          </a:p>
          <a:p>
            <a:r>
              <a:rPr lang="en-US" sz="3600" dirty="0"/>
              <a:t>To understand patient characteristics associated with frequent visits.</a:t>
            </a:r>
          </a:p>
          <a:p>
            <a:pPr marL="0" indent="0">
              <a:buNone/>
            </a:pPr>
            <a:r>
              <a:rPr lang="en-US" sz="3600" b="1" dirty="0"/>
              <a:t>     📊 Healthcare Data Analysts</a:t>
            </a:r>
          </a:p>
          <a:p>
            <a:r>
              <a:rPr lang="en-US" sz="3600" dirty="0"/>
              <a:t>To analyze healthcare utilization and discover meaningful patterns.</a:t>
            </a:r>
          </a:p>
          <a:p>
            <a:pPr marL="0" indent="0">
              <a:buNone/>
            </a:pPr>
            <a:r>
              <a:rPr lang="en-US" sz="3600" b="1" dirty="0"/>
              <a:t>     🏛️ Healthcare Administrators</a:t>
            </a:r>
          </a:p>
          <a:p>
            <a:r>
              <a:rPr lang="en-US" sz="3600" dirty="0"/>
              <a:t>To support healthcare resource and service planning.</a:t>
            </a:r>
          </a:p>
          <a:p>
            <a:pPr marL="0" indent="0">
              <a:buNone/>
            </a:pPr>
            <a:r>
              <a:rPr lang="en-US" sz="3600" b="1" dirty="0"/>
              <a:t>     🔬 Researchers &amp; Students</a:t>
            </a:r>
          </a:p>
          <a:p>
            <a:r>
              <a:rPr lang="en-US" sz="3600" dirty="0"/>
              <a:t>To study healthcare data and develop further analytical models.</a:t>
            </a:r>
          </a:p>
          <a:p>
            <a:pPr algn="just">
              <a:lnSpc>
                <a:spcPct val="150000"/>
              </a:lnSpc>
            </a:pPr>
            <a:endParaRPr lang="en-IN" sz="36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7C14AD0-39D1-6FBF-FF75-92E96A613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E91243-6FAD-0949-3B4E-4E1128901F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54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229492" y="1066115"/>
            <a:ext cx="9911708" cy="5640438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1100" b="1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1100" b="1" dirty="0"/>
              <a:t>       Programming Language</a:t>
            </a:r>
          </a:p>
          <a:p>
            <a:pPr marL="0" indent="0">
              <a:buNone/>
            </a:pPr>
            <a:r>
              <a:rPr lang="en-US" sz="1100" b="1" dirty="0"/>
              <a:t>        Python</a:t>
            </a:r>
            <a:endParaRPr lang="en-US" sz="1100" dirty="0"/>
          </a:p>
          <a:p>
            <a:r>
              <a:rPr lang="en-US" sz="1100" dirty="0"/>
              <a:t>Used for data processing, analysis, and visualization.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100" b="1" dirty="0"/>
              <a:t>      Development Environment</a:t>
            </a:r>
          </a:p>
          <a:p>
            <a:pPr marL="0" indent="0">
              <a:buNone/>
            </a:pPr>
            <a:r>
              <a:rPr lang="en-US" sz="1100" b="1" dirty="0"/>
              <a:t>        Jupyter Notebook</a:t>
            </a:r>
            <a:endParaRPr lang="en-US" sz="1100" dirty="0"/>
          </a:p>
          <a:p>
            <a:r>
              <a:rPr lang="en-US" sz="1100" dirty="0"/>
              <a:t>Used to write and execute Python code interactively and document the analysis.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100" b="1" dirty="0"/>
              <a:t>       Libraries</a:t>
            </a:r>
          </a:p>
          <a:p>
            <a:r>
              <a:rPr lang="en-US" sz="1100" b="1" dirty="0"/>
              <a:t>Pandas</a:t>
            </a:r>
            <a:br>
              <a:rPr lang="en-US" sz="1100" dirty="0"/>
            </a:br>
            <a:r>
              <a:rPr lang="en-US" sz="1100" dirty="0"/>
              <a:t>Used for data loading, cleaning, manipulation, and analysis.</a:t>
            </a:r>
          </a:p>
          <a:p>
            <a:r>
              <a:rPr lang="en-US" sz="1100" b="1" dirty="0"/>
              <a:t>NumPy</a:t>
            </a:r>
            <a:br>
              <a:rPr lang="en-US" sz="1100" dirty="0"/>
            </a:br>
            <a:r>
              <a:rPr lang="en-US" sz="1100" dirty="0"/>
              <a:t>Used for numerical calculations and statistical operations.</a:t>
            </a:r>
          </a:p>
          <a:p>
            <a:r>
              <a:rPr lang="en-US" sz="1100" b="1" dirty="0"/>
              <a:t>Matplotlib</a:t>
            </a:r>
          </a:p>
          <a:p>
            <a:pPr marL="0" indent="0">
              <a:buNone/>
            </a:pPr>
            <a:r>
              <a:rPr lang="en-US" sz="1100" dirty="0"/>
              <a:t>         Used to create graphs and charts.</a:t>
            </a:r>
          </a:p>
          <a:p>
            <a:r>
              <a:rPr lang="en-US" sz="1100" b="1" dirty="0"/>
              <a:t>Seaborn</a:t>
            </a:r>
            <a:br>
              <a:rPr lang="en-US" sz="1100" dirty="0"/>
            </a:br>
            <a:r>
              <a:rPr lang="en-US" sz="1100" dirty="0"/>
              <a:t>Used to create attractive statistical visualizations and relationship plots.</a:t>
            </a:r>
          </a:p>
          <a:p>
            <a:endParaRPr lang="en-US" sz="1100" dirty="0"/>
          </a:p>
          <a:p>
            <a:pPr lvl="1">
              <a:lnSpc>
                <a:spcPct val="150000"/>
              </a:lnSpc>
            </a:pPr>
            <a:endParaRPr lang="en-IN" sz="110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256855"/>
            <a:ext cx="5306291" cy="685628"/>
          </a:xfrm>
        </p:spPr>
        <p:txBody>
          <a:bodyPr>
            <a:normAutofit fontScale="90000"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8610B-B3DF-59A6-7A33-8954120F5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3B9E44D-9D41-E1A8-4704-F7437AE8BFD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909255C-9E80-C9AC-BC0E-09224A80E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164" y="370589"/>
            <a:ext cx="10984786" cy="830997"/>
          </a:xfrm>
        </p:spPr>
        <p:txBody>
          <a:bodyPr>
            <a:normAutofit fontScale="90000"/>
          </a:bodyPr>
          <a:lstStyle/>
          <a:p>
            <a:r>
              <a:rPr lang="en-US" dirty="0"/>
              <a:t>RESULTS – GENDER &amp; AGE DISTRIBUTION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555907D-FC94-5B8C-7129-71ACF5F92F66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4907D7C8-8DF6-B0F0-C368-9DCAB3FAC6A3}"/>
              </a:ext>
            </a:extLst>
          </p:cNvPr>
          <p:cNvSpPr txBox="1">
            <a:spLocks/>
          </p:cNvSpPr>
          <p:nvPr/>
        </p:nvSpPr>
        <p:spPr>
          <a:xfrm>
            <a:off x="7582054" y="2015234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28EFFA19-4F4F-32C3-8758-2802B205CF64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</a:rPr>
              <a:t>GitHub</a:t>
            </a:r>
            <a:r>
              <a:rPr lang="en-GB" sz="2000" b="0" u="sng" dirty="0">
                <a:solidFill>
                  <a:srgbClr val="0070C0"/>
                </a:solidFill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Link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C1D4E801-16C9-16C8-E5F1-EAC72B180D0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364F0BB-94D6-6294-33B9-C6D6C2A5950F}"/>
              </a:ext>
            </a:extLst>
          </p:cNvPr>
          <p:cNvSpPr/>
          <p:nvPr/>
        </p:nvSpPr>
        <p:spPr>
          <a:xfrm>
            <a:off x="422959" y="1376737"/>
            <a:ext cx="5381940" cy="3267182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5CBBE30-1D24-C012-DB83-989A66304C6A}"/>
              </a:ext>
            </a:extLst>
          </p:cNvPr>
          <p:cNvSpPr/>
          <p:nvPr/>
        </p:nvSpPr>
        <p:spPr>
          <a:xfrm>
            <a:off x="6189104" y="1376737"/>
            <a:ext cx="5579939" cy="3267182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DCF2DC-B46C-909E-A344-1F0A7A5D84CD}"/>
              </a:ext>
            </a:extLst>
          </p:cNvPr>
          <p:cNvSpPr txBox="1"/>
          <p:nvPr/>
        </p:nvSpPr>
        <p:spPr>
          <a:xfrm>
            <a:off x="503434" y="5044611"/>
            <a:ext cx="116885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These demographic patterns provide a basic understanding of the patient population included in the healthcare dataset.</a:t>
            </a:r>
          </a:p>
        </p:txBody>
      </p:sp>
    </p:spTree>
    <p:extLst>
      <p:ext uri="{BB962C8B-B14F-4D97-AF65-F5344CB8AC3E}">
        <p14:creationId xmlns:p14="http://schemas.microsoft.com/office/powerpoint/2010/main" val="3902316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958" y="370588"/>
            <a:ext cx="11936853" cy="1345195"/>
          </a:xfrm>
        </p:spPr>
        <p:txBody>
          <a:bodyPr>
            <a:normAutofit/>
          </a:bodyPr>
          <a:lstStyle/>
          <a:p>
            <a:r>
              <a:rPr lang="en-US" sz="4000" dirty="0"/>
              <a:t>   RESULTS – DOCTOR VISITS &amp; GENDER ANALYSIS</a:t>
            </a:r>
            <a:endParaRPr lang="en-IN" sz="4000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 flipV="1">
            <a:off x="807164" y="1909213"/>
            <a:ext cx="4275138" cy="93701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5017D55-82FF-1D13-9718-1EBE6D3FA3A2}"/>
              </a:ext>
            </a:extLst>
          </p:cNvPr>
          <p:cNvSpPr/>
          <p:nvPr/>
        </p:nvSpPr>
        <p:spPr>
          <a:xfrm>
            <a:off x="440471" y="1617932"/>
            <a:ext cx="5272780" cy="2883453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EC4959-1D10-ECEF-307A-E739EE951354}"/>
              </a:ext>
            </a:extLst>
          </p:cNvPr>
          <p:cNvSpPr/>
          <p:nvPr/>
        </p:nvSpPr>
        <p:spPr>
          <a:xfrm>
            <a:off x="6344199" y="1617932"/>
            <a:ext cx="5272780" cy="2883453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FEDD8A-977D-67D1-434F-B0827C9B8E5C}"/>
              </a:ext>
            </a:extLst>
          </p:cNvPr>
          <p:cNvSpPr txBox="1"/>
          <p:nvPr/>
        </p:nvSpPr>
        <p:spPr>
          <a:xfrm>
            <a:off x="675957" y="4931596"/>
            <a:ext cx="1094102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doctor visits distribution shows how frequently patients visited doctors and highlights the common visit patterns in the dataset.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gender analysis compares the average number of doctor visits between male and female patients.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These results help understand healthcare utilization patterns across the patient population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CF1AF-DE98-7615-4D76-5C516000F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02F11E7-5008-BEC9-A357-48134DFCC10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4AE9144-6BD9-DC9C-B8FA-00C1BBCD6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982" y="370589"/>
            <a:ext cx="11550036" cy="1061104"/>
          </a:xfrm>
        </p:spPr>
        <p:txBody>
          <a:bodyPr>
            <a:normAutofit/>
          </a:bodyPr>
          <a:lstStyle/>
          <a:p>
            <a:r>
              <a:rPr lang="en-US" sz="4000" dirty="0"/>
              <a:t>RESULTS – ILLNESS &amp; GENDER ANALYSIS</a:t>
            </a:r>
            <a:endParaRPr lang="en-IN" sz="4000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ECA0E57B-61AA-9393-D7F7-4477F95EBF2E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3743BA0-A277-D62F-C495-3F3BC94944FB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80B7B554-7972-EB9D-DC1C-0767198FB3E8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CDE02748-11F1-5D7F-3FAE-F9CB0266DC4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2846231"/>
            <a:ext cx="4275138" cy="1027126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FACE957-A123-F2E0-D27A-CC38B4D22DA0}"/>
              </a:ext>
            </a:extLst>
          </p:cNvPr>
          <p:cNvSpPr/>
          <p:nvPr/>
        </p:nvSpPr>
        <p:spPr>
          <a:xfrm>
            <a:off x="594959" y="1608409"/>
            <a:ext cx="5272780" cy="2883453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70741C-AECA-06FB-1CCA-7CCBA86697F8}"/>
              </a:ext>
            </a:extLst>
          </p:cNvPr>
          <p:cNvSpPr/>
          <p:nvPr/>
        </p:nvSpPr>
        <p:spPr>
          <a:xfrm>
            <a:off x="6324261" y="1608409"/>
            <a:ext cx="5272780" cy="2883453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1443CB-2C26-C92C-0A40-B8ABC11CFD81}"/>
              </a:ext>
            </a:extLst>
          </p:cNvPr>
          <p:cNvSpPr txBox="1"/>
          <p:nvPr/>
        </p:nvSpPr>
        <p:spPr>
          <a:xfrm>
            <a:off x="675957" y="4931596"/>
            <a:ext cx="1119506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illness analysis shows how the average number of doctor visits changes with different illness levels in the dataset.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box plot compares the distribution and variation of doctor visits between male and female patients.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These analyses help identify differences in healthcare utilization based on illness level and gender.</a:t>
            </a:r>
          </a:p>
        </p:txBody>
      </p:sp>
    </p:spTree>
    <p:extLst>
      <p:ext uri="{BB962C8B-B14F-4D97-AF65-F5344CB8AC3E}">
        <p14:creationId xmlns:p14="http://schemas.microsoft.com/office/powerpoint/2010/main" val="2352664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416C5-B678-6555-6FA6-FD3EA00EF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92C15E1-8CAF-5E21-8AF6-7005C199284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85BEBB9-4580-DD38-E9BB-DBA34DB36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5029" y="370589"/>
            <a:ext cx="11146970" cy="1245940"/>
          </a:xfrm>
        </p:spPr>
        <p:txBody>
          <a:bodyPr>
            <a:normAutofit/>
          </a:bodyPr>
          <a:lstStyle/>
          <a:p>
            <a:r>
              <a:rPr lang="en-US" sz="4000" dirty="0"/>
              <a:t>RESULTS – AGE &amp; CORRELATION ANALYSIS</a:t>
            </a:r>
            <a:endParaRPr lang="en-IN" sz="4000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F51BB425-CE8E-D080-E99A-897013B4637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02BB68-4A3C-50DD-7168-7800D4EC9F72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BCD47EC0-3579-A20B-8169-9D041703F2F1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CB0DA562-E0AF-BC3E-BA24-9F4702E07EF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44773D-5951-8881-7A91-A166EADFC939}"/>
              </a:ext>
            </a:extLst>
          </p:cNvPr>
          <p:cNvSpPr/>
          <p:nvPr/>
        </p:nvSpPr>
        <p:spPr>
          <a:xfrm>
            <a:off x="675957" y="1431693"/>
            <a:ext cx="5272780" cy="2883453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CD1D3DE-67D4-9BA6-44EA-FBB53612B791}"/>
              </a:ext>
            </a:extLst>
          </p:cNvPr>
          <p:cNvSpPr/>
          <p:nvPr/>
        </p:nvSpPr>
        <p:spPr>
          <a:xfrm>
            <a:off x="6303712" y="1431693"/>
            <a:ext cx="5272780" cy="2883453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AD5F65-C0DE-343A-827C-536A0E05C95E}"/>
              </a:ext>
            </a:extLst>
          </p:cNvPr>
          <p:cNvSpPr txBox="1"/>
          <p:nvPr/>
        </p:nvSpPr>
        <p:spPr>
          <a:xfrm>
            <a:off x="320982" y="4715883"/>
            <a:ext cx="1144805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scatter plot shows the relationship between patient age and the number of doctor visits, with gender used to distinguish the observations.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correlation heatmap shows the strength and direction of relationships among the numerical healthcare variables.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These visualizations help identify patterns and relationships that may be useful for understanding doctor visit behavior.</a:t>
            </a:r>
          </a:p>
        </p:txBody>
      </p:sp>
    </p:spTree>
    <p:extLst>
      <p:ext uri="{BB962C8B-B14F-4D97-AF65-F5344CB8AC3E}">
        <p14:creationId xmlns:p14="http://schemas.microsoft.com/office/powerpoint/2010/main" val="2802024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4C73C-8708-1F40-0A57-DDFED1F14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337FEA0-48DB-6309-CD03-9ACC8F1A8F7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B8511A4-86E7-A01D-E7C1-9C2209C33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958" y="370589"/>
            <a:ext cx="11769041" cy="1245940"/>
          </a:xfrm>
        </p:spPr>
        <p:txBody>
          <a:bodyPr>
            <a:normAutofit/>
          </a:bodyPr>
          <a:lstStyle/>
          <a:p>
            <a:r>
              <a:rPr lang="en-US" sz="4000" dirty="0"/>
              <a:t>RESULTS – AGE GROUP &amp; ILLNESS ANALYSIS</a:t>
            </a:r>
            <a:endParaRPr lang="en-IN" sz="4000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76C81AC-23F5-10F3-B4DA-8D398F7D3D98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DB1FB82-31FD-F327-6F66-C18FE41C1A38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7D80F644-16A7-8304-3519-063712240D42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35F96E47-2C6C-3895-FD44-80DB13AB73F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4D2E376-C745-78E4-90E7-B732ADE2B9F5}"/>
              </a:ext>
            </a:extLst>
          </p:cNvPr>
          <p:cNvSpPr/>
          <p:nvPr/>
        </p:nvSpPr>
        <p:spPr>
          <a:xfrm>
            <a:off x="675957" y="1431693"/>
            <a:ext cx="5272780" cy="2883453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6F3084-28DE-7865-1C77-79F3B1BE8429}"/>
              </a:ext>
            </a:extLst>
          </p:cNvPr>
          <p:cNvSpPr/>
          <p:nvPr/>
        </p:nvSpPr>
        <p:spPr>
          <a:xfrm>
            <a:off x="6303712" y="1431693"/>
            <a:ext cx="5272780" cy="2883453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E4C52E-067A-1827-D164-8A80CC2C4952}"/>
              </a:ext>
            </a:extLst>
          </p:cNvPr>
          <p:cNvSpPr txBox="1"/>
          <p:nvPr/>
        </p:nvSpPr>
        <p:spPr>
          <a:xfrm>
            <a:off x="422959" y="4947557"/>
            <a:ext cx="1134608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age-group analysis compares the average number of doctor visits across different patient age groups.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illness distribution shows how patients are distributed across different levels of illness in the dataset.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These results help understand how age and illness patterns are associated with healthcare utilization.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4219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88019-6B36-097B-B348-4C7907444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7DA2DEA-EF23-4DA3-113C-201BF8A0640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A46C75-5CFC-A58A-0C0A-5A1A02BA9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70589"/>
            <a:ext cx="12192000" cy="1245940"/>
          </a:xfrm>
        </p:spPr>
        <p:txBody>
          <a:bodyPr>
            <a:normAutofit fontScale="90000"/>
          </a:bodyPr>
          <a:lstStyle/>
          <a:p>
            <a:r>
              <a:rPr lang="en-US" sz="4400" dirty="0"/>
              <a:t>RESULTS</a:t>
            </a:r>
            <a:r>
              <a:rPr lang="en-US" dirty="0"/>
              <a:t> – DOCTOR VISITS &amp; GENDER ANALYSIS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6D42967-1B27-AB57-66CD-3A3B0A4F195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3EB3D4F-47A9-DDDE-1ECA-F7B77E65B879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30F2DEF4-DCCF-5380-318F-012453694BC3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AE571C78-2127-F8E8-A75A-722B1DB88F5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4ACB0DB-7EE3-CBAB-EF55-E179FEB235EF}"/>
              </a:ext>
            </a:extLst>
          </p:cNvPr>
          <p:cNvSpPr/>
          <p:nvPr/>
        </p:nvSpPr>
        <p:spPr>
          <a:xfrm>
            <a:off x="675957" y="1431693"/>
            <a:ext cx="5272780" cy="2883453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9E8C5B0-EDE4-084A-9178-29C5D5736F3D}"/>
              </a:ext>
            </a:extLst>
          </p:cNvPr>
          <p:cNvSpPr/>
          <p:nvPr/>
        </p:nvSpPr>
        <p:spPr>
          <a:xfrm>
            <a:off x="6303712" y="1431693"/>
            <a:ext cx="5272780" cy="2883453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292FFE-4266-06C2-5162-8FDCA9CEA79A}"/>
              </a:ext>
            </a:extLst>
          </p:cNvPr>
          <p:cNvSpPr txBox="1"/>
          <p:nvPr/>
        </p:nvSpPr>
        <p:spPr>
          <a:xfrm>
            <a:off x="422959" y="4800600"/>
            <a:ext cx="1089274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chronic-condition analysis compares average doctor visits based on the number of chronic conditions reported by patients.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health-status analysis shows how average doctor visits vary across different health-status categories.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These results help understand the relationship between patients’ health conditions and their use of healthcare services.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4831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D9F1F-170F-149A-CA1D-FCEE8039B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FA9AF89-676C-C93B-4114-A171A0EF07A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FAE63F26-C4A1-FB6D-1E2B-9DCA8162E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958" y="370589"/>
            <a:ext cx="11769041" cy="1245940"/>
          </a:xfrm>
        </p:spPr>
        <p:txBody>
          <a:bodyPr>
            <a:normAutofit/>
          </a:bodyPr>
          <a:lstStyle/>
          <a:p>
            <a:r>
              <a:rPr lang="en-US" sz="4000" dirty="0"/>
              <a:t>RESULTS – INCOME &amp; DOCTOR VISITS</a:t>
            </a:r>
            <a:endParaRPr lang="en-IN" sz="4000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DBA1C89-9B4E-CA78-6414-79D623771C0A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316F1F4-4CC2-D20D-294C-94D739CA3A3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C0BDFAFD-F121-0FAF-58CB-720FC9C7A045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5CF939A9-F09B-895C-B998-E13B1C1A165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 flipV="1">
            <a:off x="2269670" y="1909211"/>
            <a:ext cx="2812631" cy="495972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93CE51A-53D3-2B94-3915-46C3B3536088}"/>
              </a:ext>
            </a:extLst>
          </p:cNvPr>
          <p:cNvSpPr/>
          <p:nvPr/>
        </p:nvSpPr>
        <p:spPr>
          <a:xfrm>
            <a:off x="1575653" y="1463929"/>
            <a:ext cx="7013299" cy="34848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A685A1A-51BE-04E3-6C16-130AFC9377B9}"/>
              </a:ext>
            </a:extLst>
          </p:cNvPr>
          <p:cNvSpPr/>
          <p:nvPr/>
        </p:nvSpPr>
        <p:spPr>
          <a:xfrm>
            <a:off x="1575652" y="1463929"/>
            <a:ext cx="7013300" cy="3452623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71DD4D-7A49-9BC1-9976-0399BF490317}"/>
              </a:ext>
            </a:extLst>
          </p:cNvPr>
          <p:cNvSpPr txBox="1"/>
          <p:nvPr/>
        </p:nvSpPr>
        <p:spPr>
          <a:xfrm>
            <a:off x="675957" y="5306786"/>
            <a:ext cx="108400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scatter plot shows the relationship between patient income and the number of doctor visits.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helps identify whether doctor visit patterns vary across different income levels.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analysis provides a socioeconomic perspective on healthcare utilization in the dataset.</a:t>
            </a:r>
          </a:p>
        </p:txBody>
      </p:sp>
    </p:spTree>
    <p:extLst>
      <p:ext uri="{BB962C8B-B14F-4D97-AF65-F5344CB8AC3E}">
        <p14:creationId xmlns:p14="http://schemas.microsoft.com/office/powerpoint/2010/main" val="3807630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906486" y="636814"/>
            <a:ext cx="11903529" cy="711000"/>
          </a:xfrm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Conclusion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40970" y="1573248"/>
            <a:ext cx="8686801" cy="3989352"/>
          </a:xfrm>
        </p:spPr>
        <p:txBody>
          <a:bodyPr>
            <a:noAutofit/>
          </a:bodyPr>
          <a:lstStyle/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tx1"/>
                </a:solidFill>
              </a:rPr>
              <a:t>The Healthcare Analytics for Doctor Visits project demonstrates how Python-based data analytics can be used to analyze healthcare data and understand doctor visit patterns.</a:t>
            </a: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tx1"/>
                </a:solidFill>
              </a:rPr>
              <a:t>The project uses Pandas and NumPy for data processing and analysis, while Matplotlib and Seaborn are used to visualize important relationships and trends.</a:t>
            </a: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tx1"/>
                </a:solidFill>
              </a:rPr>
              <a:t>The analysis considers different patient-related factors such as age, gender, income, illness, health status, and chronic conditions.</a:t>
            </a: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tx1"/>
                </a:solidFill>
              </a:rPr>
              <a:t>Overall, the project shows how healthcare data can be transformed from raw records into meaningful information that can help healthcare professionals, analysts, researchers, and administrators better understand healthcare utilization.</a:t>
            </a:r>
          </a:p>
          <a:p>
            <a:pPr marL="285750" indent="-285750" algn="l">
              <a:buFont typeface="Wingdings" panose="05000000000000000000" pitchFamily="2" charset="2"/>
              <a:buChar char="v"/>
            </a:pPr>
            <a:endParaRPr lang="en-IN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A5F11-0BF1-F97B-0E04-782CABF80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9672850-F63C-3138-96FE-B726CD83DA3C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57B0E2D7-1A6F-7955-9D5D-80E14FAEC1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1DC52D5D-CEB1-C04E-BE56-6DF7F28FF285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442C90A8-2E30-CFF0-7BC5-39FF52FF3BEB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18144B71-B935-E84B-99F1-8587D52FC9BB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42ABAA45-6861-29EF-F070-0E71327586C4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8C9DFE2E-1F21-32D0-B391-C30667CCADCA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BEAB3FE-B65F-FF3D-27F0-5B1A53663EC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D6C05DF-3B2D-F688-C4FC-F7C01D35FF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75013" y="3962573"/>
            <a:ext cx="2139696" cy="344312"/>
          </a:xfrm>
        </p:spPr>
        <p:txBody>
          <a:bodyPr>
            <a:normAutofit fontScale="92500" lnSpcReduction="20000"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82518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680</TotalTime>
  <Words>899</Words>
  <Application>Microsoft Office PowerPoint</Application>
  <PresentationFormat>Widescreen</PresentationFormat>
  <Paragraphs>103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Courier New</vt:lpstr>
      <vt:lpstr>Trebuchet MS</vt:lpstr>
      <vt:lpstr>Wingdings</vt:lpstr>
      <vt:lpstr>Wingdings 3</vt:lpstr>
      <vt:lpstr>Facet</vt:lpstr>
      <vt:lpstr>Project Title -Healthcare Analytics for Doctor Visits                                                                    -TIRTC</vt:lpstr>
      <vt:lpstr>PROBLEM  STATEMENT</vt:lpstr>
      <vt:lpstr>Project Description </vt:lpstr>
      <vt:lpstr>WHO ARE THE END USERS?</vt:lpstr>
      <vt:lpstr>Technology Used</vt:lpstr>
      <vt:lpstr>RESULTS – GENDER &amp; AGE DISTRIBUTION</vt:lpstr>
      <vt:lpstr>   RESULTS – DOCTOR VISITS &amp; GENDER ANALYSIS</vt:lpstr>
      <vt:lpstr>RESULTS – ILLNESS &amp; GENDER ANALYSIS</vt:lpstr>
      <vt:lpstr>RESULTS – AGE &amp; CORRELATION ANALYSIS</vt:lpstr>
      <vt:lpstr>RESULTS – AGE GROUP &amp; ILLNESS ANALYSIS</vt:lpstr>
      <vt:lpstr>RESULTS – DOCTOR VISITS &amp; GENDER ANALYSIS</vt:lpstr>
      <vt:lpstr>RESULTS – INCOME &amp; DOCTOR VISITS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VVS Sujeevan</cp:lastModifiedBy>
  <cp:revision>75</cp:revision>
  <dcterms:created xsi:type="dcterms:W3CDTF">2021-07-11T13:13:15Z</dcterms:created>
  <dcterms:modified xsi:type="dcterms:W3CDTF">2026-09-18T14:28:02Z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